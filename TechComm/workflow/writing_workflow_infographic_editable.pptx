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WRITING IS A WORKFLOW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7863840" cy="658368"/>
          </a:xfrm>
          <a:prstGeom prst="roundRect">
            <a:avLst>
              <a:gd name="adj" fmla="val 16667"/>
            </a:avLst>
          </a:prstGeom>
          <a:solidFill>
            <a:srgbClr val="FFF8F3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972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writing workflow</a:t>
            </a:r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the combination of tasks, tools, people, resources, decisions, and movements you use to get writing done.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3794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578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874520"/>
            <a:ext cx="41605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TRADITIONAL 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as a linear process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475488" cy="475488"/>
          </a:xfrm>
          <a:prstGeom prst="ellipse">
            <a:avLst/>
          </a:prstGeom>
          <a:solidFill>
            <a:srgbClr val="861F41"/>
          </a:solidFill>
          <a:ln w="12700">
            <a:solidFill>
              <a:srgbClr val="861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5112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52144" y="3209544"/>
            <a:ext cx="274320" cy="0"/>
          </a:xfrm>
          <a:prstGeom prst="line">
            <a:avLst/>
          </a:prstGeom>
          <a:noFill/>
          <a:ln w="1524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16736" y="2971800"/>
            <a:ext cx="475488" cy="475488"/>
          </a:xfrm>
          <a:prstGeom prst="ellipse">
            <a:avLst/>
          </a:prstGeom>
          <a:solidFill>
            <a:srgbClr val="E5751F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07008" y="35112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0512" y="3209544"/>
            <a:ext cx="274320" cy="0"/>
          </a:xfrm>
          <a:prstGeom prst="line">
            <a:avLst/>
          </a:prstGeom>
          <a:noFill/>
          <a:ln w="1524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75104" y="2971800"/>
            <a:ext cx="475488" cy="475488"/>
          </a:xfrm>
          <a:prstGeom prst="ellipse">
            <a:avLst/>
          </a:prstGeom>
          <a:solidFill>
            <a:srgbClr val="642667"/>
          </a:solidFill>
          <a:ln w="12700">
            <a:solidFill>
              <a:srgbClr val="6426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65376" y="35112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209544"/>
            <a:ext cx="274320" cy="0"/>
          </a:xfrm>
          <a:prstGeom prst="line">
            <a:avLst/>
          </a:prstGeom>
          <a:noFill/>
          <a:ln w="1524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33472" y="2971800"/>
            <a:ext cx="475488" cy="475488"/>
          </a:xfrm>
          <a:prstGeom prst="ellipse">
            <a:avLst/>
          </a:prstGeom>
          <a:solidFill>
            <a:srgbClr val="508590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523744" y="35112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3209544"/>
            <a:ext cx="274320" cy="0"/>
          </a:xfrm>
          <a:prstGeom prst="line">
            <a:avLst/>
          </a:prstGeom>
          <a:noFill/>
          <a:ln w="1524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91840" y="2971800"/>
            <a:ext cx="475488" cy="475488"/>
          </a:xfrm>
          <a:prstGeom prst="ellipse">
            <a:avLst/>
          </a:prstGeom>
          <a:solidFill>
            <a:srgbClr val="75787B"/>
          </a:solidFill>
          <a:ln w="12700">
            <a:solidFill>
              <a:srgbClr val="7578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182112" y="351129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Simple. Predictable. In order.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REALITY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37760" y="2331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as a dynamic workflow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83480" y="278892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8163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2697480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7249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2816352"/>
            <a:ext cx="9144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26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843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520440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5478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3456432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61F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4838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35240" y="3520440"/>
            <a:ext cx="9144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5478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4279392"/>
            <a:ext cx="10515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7EA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3068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4187952"/>
            <a:ext cx="12344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26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421538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571232" y="4279392"/>
            <a:ext cx="1024128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430682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Proofread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480060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7578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4828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/ Share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35040" y="2999232"/>
            <a:ext cx="228600" cy="-73152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315200" y="2926080"/>
            <a:ext cx="228600" cy="9144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001000" y="3255264"/>
            <a:ext cx="0" cy="265176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635240" y="3749040"/>
            <a:ext cx="-137160" cy="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858000" y="3895344"/>
            <a:ext cx="0" cy="292608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035040" y="4498848"/>
            <a:ext cx="228600" cy="-9144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486400" y="4279392"/>
            <a:ext cx="-73152" cy="-32004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858000" y="4626864"/>
            <a:ext cx="0" cy="173736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092440" y="4718304"/>
            <a:ext cx="-594360" cy="265176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263640" y="3675888"/>
            <a:ext cx="-228600" cy="27432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4892040" y="49834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Messy. Nonlinear. Full of choices.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5623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UP A WRITING WORKFLOW?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914400" y="5998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workflow includes these elements.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58952" y="6400800"/>
            <a:ext cx="502920" cy="502920"/>
          </a:xfrm>
          <a:prstGeom prst="ellipse">
            <a:avLst/>
          </a:prstGeom>
          <a:solidFill>
            <a:srgbClr val="861F41"/>
          </a:solidFill>
          <a:ln w="12700">
            <a:solidFill>
              <a:srgbClr val="861F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320040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things you do to move your writing forward.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65760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you doing?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2203704" y="6400800"/>
            <a:ext cx="502920" cy="502920"/>
          </a:xfrm>
          <a:prstGeom prst="ellipse">
            <a:avLst/>
          </a:prstGeom>
          <a:solidFill>
            <a:srgbClr val="508590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03704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764792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8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810512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technologies or materials you use.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810512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508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you using?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3648456" y="6400800"/>
            <a:ext cx="502920" cy="502920"/>
          </a:xfrm>
          <a:prstGeom prst="ellipse">
            <a:avLst/>
          </a:prstGeom>
          <a:solidFill>
            <a:srgbClr val="642667"/>
          </a:solidFill>
          <a:ln w="12700">
            <a:solidFill>
              <a:srgbClr val="64266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48456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3209544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2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255264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who contribute, support, or give feedback.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255264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642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involved?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5093208" y="6400800"/>
            <a:ext cx="502920" cy="502920"/>
          </a:xfrm>
          <a:prstGeom prst="ellipse">
            <a:avLst/>
          </a:prstGeom>
          <a:solidFill>
            <a:srgbClr val="E5751F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93208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4654296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7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700016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Information, texts, data, and other materials.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700016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E57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do you need?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6537960" y="6400800"/>
            <a:ext cx="502920" cy="502920"/>
          </a:xfrm>
          <a:prstGeom prst="ellipse">
            <a:avLst/>
          </a:prstGeom>
          <a:solidFill>
            <a:srgbClr val="CA4F00"/>
          </a:solidFill>
          <a:ln w="12700">
            <a:solidFill>
              <a:srgbClr val="CA4F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37960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6099048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4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144768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Choices about what to do and how to do it.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144768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CA4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choices are you making?</a:t>
            </a:r>
            <a:endParaRPr lang="en-US" sz="880" dirty="0"/>
          </a:p>
        </p:txBody>
      </p:sp>
      <p:sp>
        <p:nvSpPr>
          <p:cNvPr id="89" name="Shape 87"/>
          <p:cNvSpPr/>
          <p:nvPr/>
        </p:nvSpPr>
        <p:spPr>
          <a:xfrm>
            <a:off x="7982712" y="6400800"/>
            <a:ext cx="502920" cy="502920"/>
          </a:xfrm>
          <a:prstGeom prst="ellipse">
            <a:avLst/>
          </a:prstGeom>
          <a:solidFill>
            <a:srgbClr val="508590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82712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543800" y="6967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8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MOVEMENTS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589520" y="727862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 between tasks, tools, people, and resources.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589520" y="8010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508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the work go next?</a:t>
            </a:r>
            <a:endParaRPr lang="en-US" sz="880" dirty="0"/>
          </a:p>
        </p:txBody>
      </p:sp>
      <p:sp>
        <p:nvSpPr>
          <p:cNvPr id="94" name="Text 92"/>
          <p:cNvSpPr/>
          <p:nvPr/>
        </p:nvSpPr>
        <p:spPr>
          <a:xfrm>
            <a:off x="640080" y="8759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THINKING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914400" y="9125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what you do, question why, evaluate what happens, and redesign intentionally.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43000" y="9646920"/>
            <a:ext cx="685800" cy="685800"/>
          </a:xfrm>
          <a:prstGeom prst="ellipse">
            <a:avLst/>
          </a:prstGeom>
          <a:solidFill>
            <a:srgbClr val="861F41"/>
          </a:solidFill>
          <a:ln w="12700">
            <a:solidFill>
              <a:srgbClr val="861F4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43000" y="9646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98" name="Text 96"/>
          <p:cNvSpPr/>
          <p:nvPr/>
        </p:nvSpPr>
        <p:spPr>
          <a:xfrm>
            <a:off x="640080" y="10442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NOTICE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685800" y="10753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am I actually doing?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1938528" y="9985248"/>
            <a:ext cx="621792" cy="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3227832" y="9646920"/>
            <a:ext cx="685800" cy="685800"/>
          </a:xfrm>
          <a:prstGeom prst="ellipse">
            <a:avLst/>
          </a:prstGeom>
          <a:solidFill>
            <a:srgbClr val="508590"/>
          </a:solidFill>
          <a:ln w="12700">
            <a:solidFill>
              <a:srgbClr val="50859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27832" y="9646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03" name="Text 101"/>
          <p:cNvSpPr/>
          <p:nvPr/>
        </p:nvSpPr>
        <p:spPr>
          <a:xfrm>
            <a:off x="2724912" y="10442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8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QUESTION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2770632" y="10753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am I doing it this way?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4023360" y="9985248"/>
            <a:ext cx="621792" cy="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5312664" y="9646920"/>
            <a:ext cx="685800" cy="685800"/>
          </a:xfrm>
          <a:prstGeom prst="ellipse">
            <a:avLst/>
          </a:prstGeom>
          <a:solidFill>
            <a:srgbClr val="642667"/>
          </a:solidFill>
          <a:ln w="12700">
            <a:solidFill>
              <a:srgbClr val="64266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12664" y="9646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4809744" y="10442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2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EVALUATE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855464" y="10753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working? Where is the friction?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108192" y="9985248"/>
            <a:ext cx="621792" cy="0"/>
          </a:xfrm>
          <a:prstGeom prst="line">
            <a:avLst/>
          </a:prstGeom>
          <a:noFill/>
          <a:ln w="19050">
            <a:solidFill>
              <a:srgbClr val="75787B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7397496" y="9646920"/>
            <a:ext cx="685800" cy="685800"/>
          </a:xfrm>
          <a:prstGeom prst="ellipse">
            <a:avLst/>
          </a:prstGeom>
          <a:solidFill>
            <a:srgbClr val="E5751F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397496" y="9646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13" name="Text 111"/>
          <p:cNvSpPr/>
          <p:nvPr/>
        </p:nvSpPr>
        <p:spPr>
          <a:xfrm>
            <a:off x="6894576" y="10442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7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REDESIGN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940296" y="10753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I do this differently?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1051560" y="11173968"/>
            <a:ext cx="6858000" cy="5029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75787B"/>
            </a:solidFill>
            <a:prstDash val="solid"/>
            <a:headEnd type="triangl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502920" y="12024360"/>
            <a:ext cx="8138160" cy="1097280"/>
          </a:xfrm>
          <a:prstGeom prst="roundRect">
            <a:avLst>
              <a:gd name="adj" fmla="val 10000"/>
            </a:avLst>
          </a:prstGeom>
          <a:solidFill>
            <a:srgbClr val="FFF8F3"/>
          </a:solidFill>
          <a:ln w="12700">
            <a:solidFill>
              <a:srgbClr val="E5751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77240" y="122346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6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SINGLE “BEST” WRITING WORKFLOW.</a:t>
            </a:r>
            <a:endParaRPr lang="en-US" sz="1500" dirty="0"/>
          </a:p>
        </p:txBody>
      </p:sp>
      <p:sp>
        <p:nvSpPr>
          <p:cNvPr id="118" name="Text 116"/>
          <p:cNvSpPr/>
          <p:nvPr/>
        </p:nvSpPr>
        <p:spPr>
          <a:xfrm>
            <a:off x="777240" y="1260043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your workflow visible so you can make intentional choices about how you work.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6080760" y="12207240"/>
            <a:ext cx="0" cy="658368"/>
          </a:xfrm>
          <a:prstGeom prst="line">
            <a:avLst/>
          </a:prstGeom>
          <a:noFill/>
          <a:ln w="12700">
            <a:solidFill>
              <a:srgbClr val="75787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55080" y="1223467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your workflow helps you understand it, improve it, and adapt it for new situations.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640080" y="133045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POWERPOINT • Brand palette applied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Writing Is a Workflow</dc:title>
  <dc:subject>Editable writing workflow infographic</dc:subject>
  <dc:creator>OpenAI</dc:creator>
  <cp:lastModifiedBy>OpenAI</cp:lastModifiedBy>
  <cp:revision>1</cp:revision>
  <dcterms:created xsi:type="dcterms:W3CDTF">2026-08-08T09:50:11Z</dcterms:created>
  <dcterms:modified xsi:type="dcterms:W3CDTF">2026-08-08T09:50:11Z</dcterms:modified>
</cp:coreProperties>
</file>
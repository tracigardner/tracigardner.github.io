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620000" cy="19050000"/>
  <p:notesSz cx="6858000" cy="9144000"/>
  <p:embeddedFontLst>
    <p:embeddedFont>
      <p:font typeface="Acherus Grotesque" panose="02000505000000020004" pitchFamily="50" charset="0"/>
      <p:regular r:id="rId3"/>
      <p:bold r:id="rId4"/>
      <p:italic r:id="rId5"/>
      <p:boldItalic r:id="rId6"/>
    </p:embeddedFont>
    <p:embeddedFont>
      <p:font typeface="Acherus Grotesque Bold" panose="020B0604020202020204" charset="0"/>
      <p:regular r:id="rId7"/>
    </p:embeddedFont>
    <p:embeddedFont>
      <p:font typeface="Acherus Grotesque Light" panose="020B0604020202020204" charset="0"/>
      <p:regular r:id="rId8"/>
    </p:embeddedFont>
    <p:embeddedFont>
      <p:font typeface="Scrip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24" y="5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n grrl" userId="85df9cffced7e2ed" providerId="LiveId" clId="{747CD75D-533B-4140-8790-B2E38E0DC358}"/>
    <pc:docChg chg="modSld">
      <pc:chgData name="ten grrl" userId="85df9cffced7e2ed" providerId="LiveId" clId="{747CD75D-533B-4140-8790-B2E38E0DC358}" dt="2025-11-16T10:07:01.150" v="0" actId="1076"/>
      <pc:docMkLst>
        <pc:docMk/>
      </pc:docMkLst>
      <pc:sldChg chg="modSp mod">
        <pc:chgData name="ten grrl" userId="85df9cffced7e2ed" providerId="LiveId" clId="{747CD75D-533B-4140-8790-B2E38E0DC358}" dt="2025-11-16T10:07:01.150" v="0" actId="1076"/>
        <pc:sldMkLst>
          <pc:docMk/>
          <pc:sldMk cId="0" sldId="256"/>
        </pc:sldMkLst>
        <pc:spChg chg="mod">
          <ac:chgData name="ten grrl" userId="85df9cffced7e2ed" providerId="LiveId" clId="{747CD75D-533B-4140-8790-B2E38E0DC358}" dt="2025-11-16T10:07:01.150" v="0" actId="1076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85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7177" y="463530"/>
            <a:ext cx="6785646" cy="18016413"/>
            <a:chOff x="0" y="0"/>
            <a:chExt cx="3806664" cy="101069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06663" cy="10106985"/>
            </a:xfrm>
            <a:custGeom>
              <a:avLst/>
              <a:gdLst/>
              <a:ahLst/>
              <a:cxnLst/>
              <a:rect l="l" t="t" r="r" b="b"/>
              <a:pathLst>
                <a:path w="3806663" h="10106985">
                  <a:moveTo>
                    <a:pt x="58187" y="0"/>
                  </a:moveTo>
                  <a:lnTo>
                    <a:pt x="3748476" y="0"/>
                  </a:lnTo>
                  <a:cubicBezTo>
                    <a:pt x="3780612" y="0"/>
                    <a:pt x="3806663" y="26051"/>
                    <a:pt x="3806663" y="58187"/>
                  </a:cubicBezTo>
                  <a:lnTo>
                    <a:pt x="3806663" y="10048798"/>
                  </a:lnTo>
                  <a:cubicBezTo>
                    <a:pt x="3806663" y="10064231"/>
                    <a:pt x="3800533" y="10079031"/>
                    <a:pt x="3789621" y="10089943"/>
                  </a:cubicBezTo>
                  <a:cubicBezTo>
                    <a:pt x="3778708" y="10100855"/>
                    <a:pt x="3763908" y="10106985"/>
                    <a:pt x="3748476" y="10106985"/>
                  </a:cubicBezTo>
                  <a:lnTo>
                    <a:pt x="58187" y="10106985"/>
                  </a:lnTo>
                  <a:cubicBezTo>
                    <a:pt x="26051" y="10106985"/>
                    <a:pt x="0" y="10080934"/>
                    <a:pt x="0" y="10048798"/>
                  </a:cubicBezTo>
                  <a:lnTo>
                    <a:pt x="0" y="58187"/>
                  </a:lnTo>
                  <a:cubicBezTo>
                    <a:pt x="0" y="26051"/>
                    <a:pt x="26051" y="0"/>
                    <a:pt x="581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806664" cy="10126035"/>
            </a:xfrm>
            <a:prstGeom prst="rect">
              <a:avLst/>
            </a:prstGeom>
          </p:spPr>
          <p:txBody>
            <a:bodyPr lIns="23850" tIns="23850" rIns="23850" bIns="23850" rtlCol="0" anchor="ctr"/>
            <a:lstStyle/>
            <a:p>
              <a:pPr algn="ctr">
                <a:lnSpc>
                  <a:spcPts val="124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-5715000" y="5715000"/>
            <a:ext cx="19050000" cy="7620000"/>
            <a:chOff x="0" y="0"/>
            <a:chExt cx="1149350" cy="1149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08307" cy="9043322"/>
            </a:xfrm>
            <a:custGeom>
              <a:avLst/>
              <a:gdLst/>
              <a:ahLst/>
              <a:cxnLst/>
              <a:rect l="l" t="t" r="r" b="b"/>
              <a:pathLst>
                <a:path w="22608307" h="9043322">
                  <a:moveTo>
                    <a:pt x="22608307" y="99926"/>
                  </a:moveTo>
                  <a:lnTo>
                    <a:pt x="22608307" y="0"/>
                  </a:lnTo>
                  <a:lnTo>
                    <a:pt x="124908" y="0"/>
                  </a:lnTo>
                  <a:lnTo>
                    <a:pt x="124908" y="49963"/>
                  </a:lnTo>
                  <a:lnTo>
                    <a:pt x="0" y="49963"/>
                  </a:lnTo>
                  <a:lnTo>
                    <a:pt x="0" y="9043322"/>
                  </a:lnTo>
                  <a:lnTo>
                    <a:pt x="249816" y="9043322"/>
                  </a:lnTo>
                  <a:lnTo>
                    <a:pt x="249816" y="7294614"/>
                  </a:lnTo>
                  <a:lnTo>
                    <a:pt x="4496680" y="7294614"/>
                  </a:lnTo>
                  <a:lnTo>
                    <a:pt x="4496680" y="9043322"/>
                  </a:lnTo>
                  <a:lnTo>
                    <a:pt x="4746495" y="9043322"/>
                  </a:lnTo>
                  <a:lnTo>
                    <a:pt x="4746495" y="7294614"/>
                  </a:lnTo>
                  <a:lnTo>
                    <a:pt x="8993360" y="7294614"/>
                  </a:lnTo>
                  <a:lnTo>
                    <a:pt x="8993360" y="9043322"/>
                  </a:lnTo>
                  <a:lnTo>
                    <a:pt x="9243175" y="9043322"/>
                  </a:lnTo>
                  <a:lnTo>
                    <a:pt x="9243175" y="7294614"/>
                  </a:lnTo>
                  <a:lnTo>
                    <a:pt x="13490039" y="7294614"/>
                  </a:lnTo>
                  <a:lnTo>
                    <a:pt x="13490039" y="9043322"/>
                  </a:lnTo>
                  <a:lnTo>
                    <a:pt x="13739854" y="9043322"/>
                  </a:lnTo>
                  <a:lnTo>
                    <a:pt x="13739854" y="7294614"/>
                  </a:lnTo>
                  <a:lnTo>
                    <a:pt x="17986719" y="7294614"/>
                  </a:lnTo>
                  <a:lnTo>
                    <a:pt x="17986719" y="9043322"/>
                  </a:lnTo>
                  <a:lnTo>
                    <a:pt x="18236535" y="9043322"/>
                  </a:lnTo>
                  <a:lnTo>
                    <a:pt x="18236535" y="7294614"/>
                  </a:lnTo>
                  <a:lnTo>
                    <a:pt x="22608307" y="7294614"/>
                  </a:lnTo>
                  <a:lnTo>
                    <a:pt x="22608307" y="7194688"/>
                  </a:lnTo>
                  <a:lnTo>
                    <a:pt x="18236535" y="7194688"/>
                  </a:lnTo>
                  <a:lnTo>
                    <a:pt x="18236535" y="5495942"/>
                  </a:lnTo>
                  <a:lnTo>
                    <a:pt x="22608307" y="5495942"/>
                  </a:lnTo>
                  <a:lnTo>
                    <a:pt x="22608307" y="5396016"/>
                  </a:lnTo>
                  <a:lnTo>
                    <a:pt x="18236535" y="5396016"/>
                  </a:lnTo>
                  <a:lnTo>
                    <a:pt x="18236535" y="3697270"/>
                  </a:lnTo>
                  <a:lnTo>
                    <a:pt x="22608307" y="3697270"/>
                  </a:lnTo>
                  <a:lnTo>
                    <a:pt x="22608307" y="3597344"/>
                  </a:lnTo>
                  <a:lnTo>
                    <a:pt x="18236535" y="3597344"/>
                  </a:lnTo>
                  <a:lnTo>
                    <a:pt x="18236535" y="1898598"/>
                  </a:lnTo>
                  <a:lnTo>
                    <a:pt x="22608307" y="1898598"/>
                  </a:lnTo>
                  <a:lnTo>
                    <a:pt x="22608307" y="1798672"/>
                  </a:lnTo>
                  <a:lnTo>
                    <a:pt x="18236535" y="1798672"/>
                  </a:lnTo>
                  <a:lnTo>
                    <a:pt x="18236535" y="99926"/>
                  </a:lnTo>
                  <a:lnTo>
                    <a:pt x="22608307" y="99926"/>
                  </a:lnTo>
                  <a:close/>
                  <a:moveTo>
                    <a:pt x="4746495" y="1798672"/>
                  </a:moveTo>
                  <a:lnTo>
                    <a:pt x="4746495" y="99926"/>
                  </a:lnTo>
                  <a:lnTo>
                    <a:pt x="8993360" y="99926"/>
                  </a:lnTo>
                  <a:lnTo>
                    <a:pt x="8993360" y="1798672"/>
                  </a:lnTo>
                  <a:lnTo>
                    <a:pt x="4746495" y="1798672"/>
                  </a:lnTo>
                  <a:close/>
                  <a:moveTo>
                    <a:pt x="8993360" y="1898598"/>
                  </a:moveTo>
                  <a:lnTo>
                    <a:pt x="8993360" y="3597344"/>
                  </a:lnTo>
                  <a:lnTo>
                    <a:pt x="4746495" y="3597344"/>
                  </a:lnTo>
                  <a:lnTo>
                    <a:pt x="4746495" y="1898598"/>
                  </a:lnTo>
                  <a:lnTo>
                    <a:pt x="8993360" y="1898598"/>
                  </a:lnTo>
                  <a:close/>
                  <a:moveTo>
                    <a:pt x="4496680" y="1798672"/>
                  </a:moveTo>
                  <a:lnTo>
                    <a:pt x="249816" y="1798672"/>
                  </a:lnTo>
                  <a:lnTo>
                    <a:pt x="249816" y="99926"/>
                  </a:lnTo>
                  <a:lnTo>
                    <a:pt x="4496680" y="99926"/>
                  </a:lnTo>
                  <a:lnTo>
                    <a:pt x="4496680" y="1798672"/>
                  </a:lnTo>
                  <a:close/>
                  <a:moveTo>
                    <a:pt x="4496680" y="1898598"/>
                  </a:moveTo>
                  <a:lnTo>
                    <a:pt x="4496680" y="3597344"/>
                  </a:lnTo>
                  <a:lnTo>
                    <a:pt x="249816" y="3597344"/>
                  </a:lnTo>
                  <a:lnTo>
                    <a:pt x="249816" y="1898598"/>
                  </a:lnTo>
                  <a:lnTo>
                    <a:pt x="4496680" y="1898598"/>
                  </a:lnTo>
                  <a:close/>
                  <a:moveTo>
                    <a:pt x="4496680" y="3697270"/>
                  </a:moveTo>
                  <a:lnTo>
                    <a:pt x="4496680" y="5396016"/>
                  </a:lnTo>
                  <a:lnTo>
                    <a:pt x="249816" y="5396016"/>
                  </a:lnTo>
                  <a:lnTo>
                    <a:pt x="249816" y="3697270"/>
                  </a:lnTo>
                  <a:lnTo>
                    <a:pt x="4496680" y="3697270"/>
                  </a:lnTo>
                  <a:close/>
                  <a:moveTo>
                    <a:pt x="4746495" y="3697270"/>
                  </a:moveTo>
                  <a:lnTo>
                    <a:pt x="8993360" y="3697270"/>
                  </a:lnTo>
                  <a:lnTo>
                    <a:pt x="8993360" y="5396016"/>
                  </a:lnTo>
                  <a:lnTo>
                    <a:pt x="4746495" y="5396016"/>
                  </a:lnTo>
                  <a:lnTo>
                    <a:pt x="4746495" y="3697270"/>
                  </a:lnTo>
                  <a:close/>
                  <a:moveTo>
                    <a:pt x="9243175" y="3697270"/>
                  </a:moveTo>
                  <a:lnTo>
                    <a:pt x="13490039" y="3697270"/>
                  </a:lnTo>
                  <a:lnTo>
                    <a:pt x="13490039" y="5396016"/>
                  </a:lnTo>
                  <a:lnTo>
                    <a:pt x="9243175" y="5396016"/>
                  </a:lnTo>
                  <a:lnTo>
                    <a:pt x="9243175" y="3697270"/>
                  </a:lnTo>
                  <a:close/>
                  <a:moveTo>
                    <a:pt x="9243175" y="3597344"/>
                  </a:moveTo>
                  <a:lnTo>
                    <a:pt x="9243175" y="1898598"/>
                  </a:lnTo>
                  <a:lnTo>
                    <a:pt x="13490039" y="1898598"/>
                  </a:lnTo>
                  <a:lnTo>
                    <a:pt x="13490039" y="3597344"/>
                  </a:lnTo>
                  <a:lnTo>
                    <a:pt x="9243175" y="3597344"/>
                  </a:lnTo>
                  <a:close/>
                  <a:moveTo>
                    <a:pt x="9243175" y="1798672"/>
                  </a:moveTo>
                  <a:lnTo>
                    <a:pt x="9243175" y="99926"/>
                  </a:lnTo>
                  <a:lnTo>
                    <a:pt x="13490039" y="99926"/>
                  </a:lnTo>
                  <a:lnTo>
                    <a:pt x="13490039" y="1798672"/>
                  </a:lnTo>
                  <a:lnTo>
                    <a:pt x="9243175" y="1798672"/>
                  </a:lnTo>
                  <a:close/>
                  <a:moveTo>
                    <a:pt x="249816" y="7194688"/>
                  </a:moveTo>
                  <a:lnTo>
                    <a:pt x="249816" y="5495942"/>
                  </a:lnTo>
                  <a:lnTo>
                    <a:pt x="4496680" y="5495942"/>
                  </a:lnTo>
                  <a:lnTo>
                    <a:pt x="4496680" y="7194688"/>
                  </a:lnTo>
                  <a:lnTo>
                    <a:pt x="249816" y="7194688"/>
                  </a:lnTo>
                  <a:close/>
                  <a:moveTo>
                    <a:pt x="4746495" y="7194688"/>
                  </a:moveTo>
                  <a:lnTo>
                    <a:pt x="4746495" y="5495942"/>
                  </a:lnTo>
                  <a:lnTo>
                    <a:pt x="8993360" y="5495942"/>
                  </a:lnTo>
                  <a:lnTo>
                    <a:pt x="8993360" y="7194688"/>
                  </a:lnTo>
                  <a:lnTo>
                    <a:pt x="4746495" y="7194688"/>
                  </a:lnTo>
                  <a:close/>
                  <a:moveTo>
                    <a:pt x="9243175" y="7194688"/>
                  </a:moveTo>
                  <a:lnTo>
                    <a:pt x="9243175" y="5495942"/>
                  </a:lnTo>
                  <a:lnTo>
                    <a:pt x="13490039" y="5495942"/>
                  </a:lnTo>
                  <a:lnTo>
                    <a:pt x="13490039" y="7194688"/>
                  </a:lnTo>
                  <a:lnTo>
                    <a:pt x="9243175" y="7194688"/>
                  </a:lnTo>
                  <a:close/>
                  <a:moveTo>
                    <a:pt x="17986719" y="7194688"/>
                  </a:moveTo>
                  <a:lnTo>
                    <a:pt x="13739854" y="7194688"/>
                  </a:lnTo>
                  <a:lnTo>
                    <a:pt x="13739854" y="5495942"/>
                  </a:lnTo>
                  <a:lnTo>
                    <a:pt x="17986719" y="5495942"/>
                  </a:lnTo>
                  <a:lnTo>
                    <a:pt x="17986719" y="7194688"/>
                  </a:lnTo>
                  <a:close/>
                  <a:moveTo>
                    <a:pt x="17986719" y="5396016"/>
                  </a:moveTo>
                  <a:lnTo>
                    <a:pt x="13739854" y="5396016"/>
                  </a:lnTo>
                  <a:lnTo>
                    <a:pt x="13739854" y="3697270"/>
                  </a:lnTo>
                  <a:lnTo>
                    <a:pt x="17986719" y="3697270"/>
                  </a:lnTo>
                  <a:lnTo>
                    <a:pt x="17986719" y="5396016"/>
                  </a:lnTo>
                  <a:close/>
                  <a:moveTo>
                    <a:pt x="17986719" y="3597344"/>
                  </a:moveTo>
                  <a:lnTo>
                    <a:pt x="13739854" y="3597344"/>
                  </a:lnTo>
                  <a:lnTo>
                    <a:pt x="13739854" y="1898598"/>
                  </a:lnTo>
                  <a:lnTo>
                    <a:pt x="17986719" y="1898598"/>
                  </a:lnTo>
                  <a:lnTo>
                    <a:pt x="17986719" y="3597344"/>
                  </a:lnTo>
                  <a:close/>
                  <a:moveTo>
                    <a:pt x="17986719" y="1798672"/>
                  </a:moveTo>
                  <a:lnTo>
                    <a:pt x="13739854" y="1798672"/>
                  </a:lnTo>
                  <a:lnTo>
                    <a:pt x="13739854" y="99926"/>
                  </a:lnTo>
                  <a:lnTo>
                    <a:pt x="17986719" y="99926"/>
                  </a:lnTo>
                  <a:lnTo>
                    <a:pt x="17986719" y="1798672"/>
                  </a:lnTo>
                  <a:close/>
                </a:path>
              </a:pathLst>
            </a:custGeom>
            <a:solidFill>
              <a:srgbClr val="32620E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3490526" y="720310"/>
            <a:ext cx="3539723" cy="1579601"/>
          </a:xfrm>
          <a:custGeom>
            <a:avLst/>
            <a:gdLst/>
            <a:ahLst/>
            <a:cxnLst/>
            <a:rect l="l" t="t" r="r" b="b"/>
            <a:pathLst>
              <a:path w="3539723" h="1579601">
                <a:moveTo>
                  <a:pt x="0" y="0"/>
                </a:moveTo>
                <a:lnTo>
                  <a:pt x="3539723" y="0"/>
                </a:lnTo>
                <a:lnTo>
                  <a:pt x="3539723" y="1579601"/>
                </a:lnTo>
                <a:lnTo>
                  <a:pt x="0" y="15796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661057" y="5308187"/>
            <a:ext cx="6022537" cy="2802318"/>
            <a:chOff x="0" y="0"/>
            <a:chExt cx="8030049" cy="3736424"/>
          </a:xfrm>
        </p:grpSpPr>
        <p:grpSp>
          <p:nvGrpSpPr>
            <p:cNvPr id="9" name="Group 9"/>
            <p:cNvGrpSpPr/>
            <p:nvPr/>
          </p:nvGrpSpPr>
          <p:grpSpPr>
            <a:xfrm>
              <a:off x="2061049" y="0"/>
              <a:ext cx="5969000" cy="3736424"/>
              <a:chOff x="0" y="0"/>
              <a:chExt cx="1591733" cy="99638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591733" cy="996380"/>
              </a:xfrm>
              <a:custGeom>
                <a:avLst/>
                <a:gdLst/>
                <a:ahLst/>
                <a:cxnLst/>
                <a:rect l="l" t="t" r="r" b="b"/>
                <a:pathLst>
                  <a:path w="1591733" h="996380">
                    <a:moveTo>
                      <a:pt x="65716" y="0"/>
                    </a:moveTo>
                    <a:lnTo>
                      <a:pt x="1526018" y="0"/>
                    </a:lnTo>
                    <a:cubicBezTo>
                      <a:pt x="1562311" y="0"/>
                      <a:pt x="1591733" y="29422"/>
                      <a:pt x="1591733" y="65716"/>
                    </a:cubicBezTo>
                    <a:lnTo>
                      <a:pt x="1591733" y="930664"/>
                    </a:lnTo>
                    <a:cubicBezTo>
                      <a:pt x="1591733" y="966958"/>
                      <a:pt x="1562311" y="996380"/>
                      <a:pt x="1526018" y="996380"/>
                    </a:cubicBezTo>
                    <a:lnTo>
                      <a:pt x="65716" y="996380"/>
                    </a:lnTo>
                    <a:cubicBezTo>
                      <a:pt x="29422" y="996380"/>
                      <a:pt x="0" y="966958"/>
                      <a:pt x="0" y="930664"/>
                    </a:cubicBezTo>
                    <a:lnTo>
                      <a:pt x="0" y="65716"/>
                    </a:lnTo>
                    <a:cubicBezTo>
                      <a:pt x="0" y="29422"/>
                      <a:pt x="29422" y="0"/>
                      <a:pt x="65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54545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19050"/>
                <a:ext cx="1591733" cy="10154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171564"/>
              <a:ext cx="1709469" cy="1696648"/>
            </a:xfrm>
            <a:custGeom>
              <a:avLst/>
              <a:gdLst/>
              <a:ahLst/>
              <a:cxnLst/>
              <a:rect l="l" t="t" r="r" b="b"/>
              <a:pathLst>
                <a:path w="1709469" h="1696648">
                  <a:moveTo>
                    <a:pt x="0" y="0"/>
                  </a:moveTo>
                  <a:lnTo>
                    <a:pt x="1709469" y="0"/>
                  </a:lnTo>
                  <a:lnTo>
                    <a:pt x="1709469" y="1696648"/>
                  </a:lnTo>
                  <a:lnTo>
                    <a:pt x="0" y="1696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82923" y="822439"/>
              <a:ext cx="5209770" cy="2524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Design for clarity. Write for people who are busy, curious, and not experts. Your fact sheet should answer these questions: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  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861F41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✔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What is this about?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  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861F41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✔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Why does it matter?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  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861F41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✔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What should I know or do next?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82923" y="142989"/>
              <a:ext cx="4564668" cy="511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861F41"/>
                  </a:solidFill>
                  <a:latin typeface="Scripter"/>
                  <a:ea typeface="Scripter"/>
                  <a:cs typeface="Scripter"/>
                  <a:sym typeface="Scripter"/>
                </a:rPr>
                <a:t>ESSENTIAL DETAILS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0289" y="2645683"/>
            <a:ext cx="6023305" cy="2487558"/>
            <a:chOff x="152009" y="0"/>
            <a:chExt cx="8031073" cy="3316744"/>
          </a:xfrm>
        </p:grpSpPr>
        <p:grpSp>
          <p:nvGrpSpPr>
            <p:cNvPr id="16" name="Group 16"/>
            <p:cNvGrpSpPr/>
            <p:nvPr/>
          </p:nvGrpSpPr>
          <p:grpSpPr>
            <a:xfrm>
              <a:off x="2214082" y="0"/>
              <a:ext cx="5969000" cy="3316744"/>
              <a:chOff x="0" y="0"/>
              <a:chExt cx="1591733" cy="88446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591733" cy="884465"/>
              </a:xfrm>
              <a:custGeom>
                <a:avLst/>
                <a:gdLst/>
                <a:ahLst/>
                <a:cxnLst/>
                <a:rect l="l" t="t" r="r" b="b"/>
                <a:pathLst>
                  <a:path w="1591733" h="884465">
                    <a:moveTo>
                      <a:pt x="65716" y="0"/>
                    </a:moveTo>
                    <a:lnTo>
                      <a:pt x="1526018" y="0"/>
                    </a:lnTo>
                    <a:cubicBezTo>
                      <a:pt x="1562311" y="0"/>
                      <a:pt x="1591733" y="29422"/>
                      <a:pt x="1591733" y="65716"/>
                    </a:cubicBezTo>
                    <a:lnTo>
                      <a:pt x="1591733" y="818749"/>
                    </a:lnTo>
                    <a:cubicBezTo>
                      <a:pt x="1591733" y="855043"/>
                      <a:pt x="1562311" y="884465"/>
                      <a:pt x="1526018" y="884465"/>
                    </a:cubicBezTo>
                    <a:lnTo>
                      <a:pt x="65716" y="884465"/>
                    </a:lnTo>
                    <a:cubicBezTo>
                      <a:pt x="29422" y="884465"/>
                      <a:pt x="0" y="855043"/>
                      <a:pt x="0" y="818749"/>
                    </a:cubicBezTo>
                    <a:lnTo>
                      <a:pt x="0" y="65716"/>
                    </a:lnTo>
                    <a:cubicBezTo>
                      <a:pt x="0" y="29422"/>
                      <a:pt x="29422" y="0"/>
                      <a:pt x="65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54545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591733" cy="903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635956" y="818882"/>
              <a:ext cx="5324820" cy="2244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99"/>
                </a:lnSpc>
              </a:pPr>
              <a:r>
                <a:rPr lang="en-US" sz="1499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A one-page (front and back) document that presents essential information clearly and visually. Use fact sheets to:</a:t>
              </a:r>
            </a:p>
            <a:p>
              <a:pPr algn="l">
                <a:lnSpc>
                  <a:spcPts val="960"/>
                </a:lnSpc>
              </a:pPr>
              <a:r>
                <a:rPr lang="en-US" sz="8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  </a:t>
              </a:r>
            </a:p>
            <a:p>
              <a:pPr marL="323850" lvl="1" indent="-161925" algn="l">
                <a:lnSpc>
                  <a:spcPts val="1799"/>
                </a:lnSpc>
                <a:buFont typeface="Arial"/>
                <a:buChar char="•"/>
              </a:pPr>
              <a:r>
                <a:rPr lang="en-US" sz="1499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Summarize complex topics.</a:t>
              </a:r>
            </a:p>
            <a:p>
              <a:pPr algn="l">
                <a:lnSpc>
                  <a:spcPts val="960"/>
                </a:lnSpc>
              </a:pPr>
              <a:r>
                <a:rPr lang="en-US" sz="8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  </a:t>
              </a:r>
            </a:p>
            <a:p>
              <a:pPr marL="323850" lvl="1" indent="-161925" algn="l">
                <a:lnSpc>
                  <a:spcPts val="1799"/>
                </a:lnSpc>
                <a:buFont typeface="Arial"/>
                <a:buChar char="•"/>
              </a:pPr>
              <a:r>
                <a:rPr lang="en-US" sz="1499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Share data quickly.</a:t>
              </a:r>
            </a:p>
            <a:p>
              <a:pPr algn="l">
                <a:lnSpc>
                  <a:spcPts val="960"/>
                </a:lnSpc>
              </a:pPr>
              <a:endParaRPr lang="en-US" sz="1499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23850" lvl="1" indent="-161925" algn="l">
                <a:lnSpc>
                  <a:spcPts val="1799"/>
                </a:lnSpc>
                <a:buFont typeface="Arial"/>
                <a:buChar char="•"/>
              </a:pPr>
              <a:r>
                <a:rPr lang="en-US" sz="1499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Inform non-expert audiences.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35956" y="142989"/>
              <a:ext cx="4564668" cy="511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 dirty="0">
                  <a:solidFill>
                    <a:srgbClr val="861F41"/>
                  </a:solidFill>
                  <a:latin typeface="Scripter"/>
                  <a:ea typeface="Scripter"/>
                  <a:cs typeface="Scripter"/>
                  <a:sym typeface="Scripter"/>
                </a:rPr>
                <a:t>WHAT IS A FACT SHEET?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2009" y="206323"/>
              <a:ext cx="2062070" cy="2062071"/>
            </a:xfrm>
            <a:custGeom>
              <a:avLst/>
              <a:gdLst/>
              <a:ahLst/>
              <a:cxnLst/>
              <a:rect l="l" t="t" r="r" b="b"/>
              <a:pathLst>
                <a:path w="2062070" h="2062070">
                  <a:moveTo>
                    <a:pt x="0" y="0"/>
                  </a:moveTo>
                  <a:lnTo>
                    <a:pt x="2062070" y="0"/>
                  </a:lnTo>
                  <a:lnTo>
                    <a:pt x="2062070" y="2062070"/>
                  </a:lnTo>
                  <a:lnTo>
                    <a:pt x="0" y="2062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6282" y="8285451"/>
            <a:ext cx="6137312" cy="6404653"/>
            <a:chOff x="0" y="0"/>
            <a:chExt cx="8183082" cy="8539538"/>
          </a:xfrm>
        </p:grpSpPr>
        <p:grpSp>
          <p:nvGrpSpPr>
            <p:cNvPr id="23" name="Group 23"/>
            <p:cNvGrpSpPr/>
            <p:nvPr/>
          </p:nvGrpSpPr>
          <p:grpSpPr>
            <a:xfrm>
              <a:off x="2214082" y="0"/>
              <a:ext cx="5969000" cy="8539538"/>
              <a:chOff x="0" y="0"/>
              <a:chExt cx="1591733" cy="227721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591733" cy="2277210"/>
              </a:xfrm>
              <a:custGeom>
                <a:avLst/>
                <a:gdLst/>
                <a:ahLst/>
                <a:cxnLst/>
                <a:rect l="l" t="t" r="r" b="b"/>
                <a:pathLst>
                  <a:path w="1591733" h="2277210">
                    <a:moveTo>
                      <a:pt x="65716" y="0"/>
                    </a:moveTo>
                    <a:lnTo>
                      <a:pt x="1526018" y="0"/>
                    </a:lnTo>
                    <a:cubicBezTo>
                      <a:pt x="1562311" y="0"/>
                      <a:pt x="1591733" y="29422"/>
                      <a:pt x="1591733" y="65716"/>
                    </a:cubicBezTo>
                    <a:lnTo>
                      <a:pt x="1591733" y="2211494"/>
                    </a:lnTo>
                    <a:cubicBezTo>
                      <a:pt x="1591733" y="2247788"/>
                      <a:pt x="1562311" y="2277210"/>
                      <a:pt x="1526018" y="2277210"/>
                    </a:cubicBezTo>
                    <a:lnTo>
                      <a:pt x="65716" y="2277210"/>
                    </a:lnTo>
                    <a:cubicBezTo>
                      <a:pt x="29422" y="2277210"/>
                      <a:pt x="0" y="2247788"/>
                      <a:pt x="0" y="2211494"/>
                    </a:cubicBezTo>
                    <a:lnTo>
                      <a:pt x="0" y="65716"/>
                    </a:lnTo>
                    <a:cubicBezTo>
                      <a:pt x="0" y="29422"/>
                      <a:pt x="29422" y="0"/>
                      <a:pt x="65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54545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1591733" cy="2296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 rot="63087">
              <a:off x="20297" y="336695"/>
              <a:ext cx="1962510" cy="2230125"/>
            </a:xfrm>
            <a:custGeom>
              <a:avLst/>
              <a:gdLst/>
              <a:ahLst/>
              <a:cxnLst/>
              <a:rect l="l" t="t" r="r" b="b"/>
              <a:pathLst>
                <a:path w="1962510" h="2230125">
                  <a:moveTo>
                    <a:pt x="0" y="0"/>
                  </a:moveTo>
                  <a:lnTo>
                    <a:pt x="1962510" y="0"/>
                  </a:lnTo>
                  <a:lnTo>
                    <a:pt x="1962510" y="2230126"/>
                  </a:lnTo>
                  <a:lnTo>
                    <a:pt x="0" y="2230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5956" y="309338"/>
              <a:ext cx="4564668" cy="511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861F41"/>
                  </a:solidFill>
                  <a:latin typeface="Scripter"/>
                  <a:ea typeface="Scripter"/>
                  <a:cs typeface="Scripter"/>
                  <a:sym typeface="Scripter"/>
                </a:rPr>
                <a:t>WHAT TO INCLUDE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5956" y="1008680"/>
              <a:ext cx="5175874" cy="699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Title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: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Be clear and specific.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Byline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: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Include your name.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Introduction or Summary: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Explain why the topic matters (2–4 sentences)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Key Facts or Data Points:</a:t>
              </a:r>
              <a:r>
                <a:rPr lang="en-US" sz="1400" b="1">
                  <a:solidFill>
                    <a:srgbClr val="333333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3–5 essential facts in bullets, stats, or short paragraphs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Visuals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: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Support key points using charts, screenshots, or diagrams; place visuals near relevant text (in proximity). Make these yourself.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Headings/Subheadings: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Use clear section headings for easy scanning; main heading should be largest, subheadings smaller.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Sources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: 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Cite all data and claims; include links or in-text references; full references at the end; use a consistent citation format.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algn="l">
                <a:lnSpc>
                  <a:spcPts val="1680"/>
                </a:lnSpc>
              </a:pPr>
              <a:r>
                <a:rPr lang="en-US" sz="1400" b="1">
                  <a:solidFill>
                    <a:srgbClr val="E87722"/>
                  </a:solidFill>
                  <a:latin typeface="Acherus Grotesque Bold"/>
                  <a:ea typeface="Acherus Grotesque Bold"/>
                  <a:cs typeface="Acherus Grotesque Bold"/>
                  <a:sym typeface="Acherus Grotesque Bold"/>
                </a:rPr>
                <a:t>Date</a:t>
              </a:r>
              <a:r>
                <a:rPr lang="en-US" sz="1400">
                  <a:solidFill>
                    <a:srgbClr val="E87722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:</a:t>
              </a: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 Indicate when the fact sheet was created or updated.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663" y="14865050"/>
            <a:ext cx="6006931" cy="3422950"/>
            <a:chOff x="0" y="0"/>
            <a:chExt cx="8009242" cy="4563933"/>
          </a:xfrm>
        </p:grpSpPr>
        <p:grpSp>
          <p:nvGrpSpPr>
            <p:cNvPr id="30" name="Group 30"/>
            <p:cNvGrpSpPr/>
            <p:nvPr/>
          </p:nvGrpSpPr>
          <p:grpSpPr>
            <a:xfrm>
              <a:off x="2040242" y="0"/>
              <a:ext cx="5969000" cy="4563933"/>
              <a:chOff x="0" y="0"/>
              <a:chExt cx="1591733" cy="121704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591733" cy="1217049"/>
              </a:xfrm>
              <a:custGeom>
                <a:avLst/>
                <a:gdLst/>
                <a:ahLst/>
                <a:cxnLst/>
                <a:rect l="l" t="t" r="r" b="b"/>
                <a:pathLst>
                  <a:path w="1591733" h="1217049">
                    <a:moveTo>
                      <a:pt x="65716" y="0"/>
                    </a:moveTo>
                    <a:lnTo>
                      <a:pt x="1526018" y="0"/>
                    </a:lnTo>
                    <a:cubicBezTo>
                      <a:pt x="1562311" y="0"/>
                      <a:pt x="1591733" y="29422"/>
                      <a:pt x="1591733" y="65716"/>
                    </a:cubicBezTo>
                    <a:lnTo>
                      <a:pt x="1591733" y="1151333"/>
                    </a:lnTo>
                    <a:cubicBezTo>
                      <a:pt x="1591733" y="1187627"/>
                      <a:pt x="1562311" y="1217049"/>
                      <a:pt x="1526018" y="1217049"/>
                    </a:cubicBezTo>
                    <a:lnTo>
                      <a:pt x="65716" y="1217049"/>
                    </a:lnTo>
                    <a:cubicBezTo>
                      <a:pt x="29422" y="1217049"/>
                      <a:pt x="0" y="1187627"/>
                      <a:pt x="0" y="1151333"/>
                    </a:cubicBezTo>
                    <a:lnTo>
                      <a:pt x="0" y="65716"/>
                    </a:lnTo>
                    <a:cubicBezTo>
                      <a:pt x="0" y="29422"/>
                      <a:pt x="29422" y="0"/>
                      <a:pt x="657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54545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19050"/>
                <a:ext cx="1591733" cy="12360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462116" y="117589"/>
              <a:ext cx="4564668" cy="511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861F41"/>
                  </a:solidFill>
                  <a:latin typeface="Scripter"/>
                  <a:ea typeface="Scripter"/>
                  <a:cs typeface="Scripter"/>
                  <a:sym typeface="Scripter"/>
                </a:rPr>
                <a:t>QUICK DESIGN TIPS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62116" y="771639"/>
              <a:ext cx="5080000" cy="3641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Stick to one page (front and back).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Use white space to separate sections.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Choose high-contrast colors (but avoid anything that clashes).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Use sans-serif fonts for readability.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Balance text and visuals.</a:t>
              </a:r>
            </a:p>
            <a:p>
              <a:pPr algn="l">
                <a:lnSpc>
                  <a:spcPts val="1680"/>
                </a:lnSpc>
              </a:pPr>
              <a:endParaRPr lang="en-US" sz="1400">
                <a:solidFill>
                  <a:srgbClr val="333333"/>
                </a:solidFill>
                <a:latin typeface="Acherus Grotesque"/>
                <a:ea typeface="Acherus Grotesque"/>
                <a:cs typeface="Acherus Grotesque"/>
                <a:sym typeface="Acherus Grotesque"/>
              </a:endParaRPr>
            </a:p>
            <a:p>
              <a:pPr marL="302261" lvl="1" indent="-151130" algn="l">
                <a:lnSpc>
                  <a:spcPts val="1680"/>
                </a:lnSpc>
                <a:buFont typeface="Arial"/>
                <a:buChar char="•"/>
              </a:pPr>
              <a:r>
                <a:rPr lang="en-US" sz="1400">
                  <a:solidFill>
                    <a:srgbClr val="333333"/>
                  </a:solidFill>
                  <a:latin typeface="Acherus Grotesque"/>
                  <a:ea typeface="Acherus Grotesque"/>
                  <a:cs typeface="Acherus Grotesque"/>
                  <a:sym typeface="Acherus Grotesque"/>
                </a:rPr>
                <a:t>Use a logical reading flow (Z-pattern or F-pattern).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146164"/>
              <a:ext cx="1548456" cy="2135802"/>
            </a:xfrm>
            <a:custGeom>
              <a:avLst/>
              <a:gdLst/>
              <a:ahLst/>
              <a:cxnLst/>
              <a:rect l="l" t="t" r="r" b="b"/>
              <a:pathLst>
                <a:path w="1548456" h="2135802">
                  <a:moveTo>
                    <a:pt x="0" y="0"/>
                  </a:moveTo>
                  <a:lnTo>
                    <a:pt x="1548456" y="0"/>
                  </a:lnTo>
                  <a:lnTo>
                    <a:pt x="1548456" y="2135802"/>
                  </a:lnTo>
                  <a:lnTo>
                    <a:pt x="0" y="2135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0" y="479506"/>
            <a:ext cx="5165624" cy="206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>
                <a:solidFill>
                  <a:srgbClr val="861F41"/>
                </a:solidFill>
                <a:latin typeface="Scripter"/>
                <a:ea typeface="Scripter"/>
                <a:cs typeface="Scripter"/>
                <a:sym typeface="Scripter"/>
              </a:rPr>
              <a:t>WRITING </a:t>
            </a:r>
          </a:p>
          <a:p>
            <a:pPr algn="ctr">
              <a:lnSpc>
                <a:spcPts val="5280"/>
              </a:lnSpc>
            </a:pPr>
            <a:r>
              <a:rPr lang="en-US" sz="4800">
                <a:solidFill>
                  <a:srgbClr val="861F41"/>
                </a:solidFill>
                <a:latin typeface="Scripter"/>
                <a:ea typeface="Scripter"/>
                <a:cs typeface="Scripter"/>
                <a:sym typeface="Scripter"/>
              </a:rPr>
              <a:t>AN EFFECTIVE </a:t>
            </a:r>
          </a:p>
          <a:p>
            <a:pPr algn="ctr">
              <a:lnSpc>
                <a:spcPts val="5280"/>
              </a:lnSpc>
            </a:pPr>
            <a:r>
              <a:rPr lang="en-US" sz="4800">
                <a:solidFill>
                  <a:srgbClr val="861F41"/>
                </a:solidFill>
                <a:latin typeface="Scripter"/>
                <a:ea typeface="Scripter"/>
                <a:cs typeface="Scripter"/>
                <a:sym typeface="Scripter"/>
              </a:rPr>
              <a:t>FACT SHEET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7165" y="18622818"/>
            <a:ext cx="6514507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2"/>
              </a:lnSpc>
              <a:spcBef>
                <a:spcPct val="0"/>
              </a:spcBef>
            </a:pPr>
            <a:r>
              <a:rPr lang="en-US" sz="1118">
                <a:solidFill>
                  <a:srgbClr val="FFFFFF"/>
                </a:solidFill>
                <a:latin typeface="Acherus Grotesque Light"/>
                <a:ea typeface="Acherus Grotesque Light"/>
                <a:cs typeface="Acherus Grotesque Light"/>
                <a:sym typeface="Acherus Grotesque Light"/>
              </a:rPr>
              <a:t>Copyright © 2025 Traci Gardner. Licensed under a Creative Commons Attribution-NonCommercial Share-Alike 4.0 International License. Created on Canva.com.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301</Words>
  <Application>Microsoft Office PowerPoint</Application>
  <PresentationFormat>Custom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Acherus Grotesque</vt:lpstr>
      <vt:lpstr>Calibri</vt:lpstr>
      <vt:lpstr>Arial</vt:lpstr>
      <vt:lpstr>Acherus Grotesque Light</vt:lpstr>
      <vt:lpstr>Acherus Grotesque Bold</vt:lpstr>
      <vt:lpstr>Scripter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an effective fact sheet</dc:title>
  <cp:lastModifiedBy>ten grrl</cp:lastModifiedBy>
  <cp:revision>1</cp:revision>
  <dcterms:created xsi:type="dcterms:W3CDTF">2006-08-16T00:00:00Z</dcterms:created>
  <dcterms:modified xsi:type="dcterms:W3CDTF">2025-11-16T10:07:12Z</dcterms:modified>
  <dc:identifier>DAGjkXf3sJY</dc:identifier>
</cp:coreProperties>
</file>